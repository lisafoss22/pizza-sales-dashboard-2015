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fntdata"/><Relationship Id="rId10" Type="http://schemas.openxmlformats.org/officeDocument/2006/relationships/font" Target="fonts/Roboto-regular.fntdata"/><Relationship Id="rId13" Type="http://schemas.openxmlformats.org/officeDocument/2006/relationships/font" Target="fonts/Roboto-boldItalic.fntdata"/><Relationship Id="rId12"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ce0744c8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ace0744c8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ce0744c8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ce0744c8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ce0744c8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ce0744c8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41100"/>
            <a:ext cx="8520600" cy="54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3000">
                <a:latin typeface="Times New Roman"/>
                <a:ea typeface="Times New Roman"/>
                <a:cs typeface="Times New Roman"/>
                <a:sym typeface="Times New Roman"/>
              </a:rPr>
              <a:t>Pizza Sales Dashboard – 2015</a:t>
            </a:r>
            <a:endParaRPr b="1" sz="3000">
              <a:latin typeface="Times New Roman"/>
              <a:ea typeface="Times New Roman"/>
              <a:cs typeface="Times New Roman"/>
              <a:sym typeface="Times New Roman"/>
            </a:endParaRPr>
          </a:p>
        </p:txBody>
      </p:sp>
      <p:sp>
        <p:nvSpPr>
          <p:cNvPr id="55" name="Google Shape;55;p13"/>
          <p:cNvSpPr txBox="1"/>
          <p:nvPr>
            <p:ph idx="1" type="subTitle"/>
          </p:nvPr>
        </p:nvSpPr>
        <p:spPr>
          <a:xfrm>
            <a:off x="358700" y="781700"/>
            <a:ext cx="8520600" cy="540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i="1" lang="en" sz="1800">
                <a:solidFill>
                  <a:srgbClr val="FF0000"/>
                </a:solidFill>
                <a:latin typeface="Times New Roman"/>
                <a:ea typeface="Times New Roman"/>
                <a:cs typeface="Times New Roman"/>
                <a:sym typeface="Times New Roman"/>
              </a:rPr>
              <a:t>Overview of Sales, Orders, and Revenue Performance</a:t>
            </a:r>
            <a:endParaRPr b="1" i="1" sz="1800">
              <a:solidFill>
                <a:srgbClr val="FF0000"/>
              </a:solidFill>
              <a:latin typeface="Times New Roman"/>
              <a:ea typeface="Times New Roman"/>
              <a:cs typeface="Times New Roman"/>
              <a:sym typeface="Times New Roman"/>
            </a:endParaRPr>
          </a:p>
        </p:txBody>
      </p:sp>
      <p:pic>
        <p:nvPicPr>
          <p:cNvPr id="56" name="Google Shape;56;p13" title="Dashboard.png"/>
          <p:cNvPicPr preferRelativeResize="0"/>
          <p:nvPr/>
        </p:nvPicPr>
        <p:blipFill>
          <a:blip r:embed="rId3">
            <a:alphaModFix/>
          </a:blip>
          <a:stretch>
            <a:fillRect/>
          </a:stretch>
        </p:blipFill>
        <p:spPr>
          <a:xfrm>
            <a:off x="1766000" y="1322300"/>
            <a:ext cx="6454671" cy="3544951"/>
          </a:xfrm>
          <a:prstGeom prst="rect">
            <a:avLst/>
          </a:prstGeom>
          <a:noFill/>
          <a:ln cap="flat" cmpd="sng" w="19050">
            <a:solidFill>
              <a:schemeClr val="dk2"/>
            </a:solidFill>
            <a:prstDash val="solid"/>
            <a:round/>
            <a:headEnd len="sm" w="sm" type="none"/>
            <a:tailEnd len="sm" w="sm" type="none"/>
          </a:ln>
        </p:spPr>
      </p:pic>
      <p:sp>
        <p:nvSpPr>
          <p:cNvPr id="57" name="Google Shape;57;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5925"/>
            <a:ext cx="8520600" cy="4935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400"/>
              </a:spcAft>
              <a:buNone/>
            </a:pPr>
            <a:r>
              <a:rPr b="1" lang="en" sz="1800">
                <a:latin typeface="Roboto"/>
                <a:ea typeface="Roboto"/>
                <a:cs typeface="Roboto"/>
                <a:sym typeface="Roboto"/>
              </a:rPr>
              <a:t>Key Insights (What &amp; Why)</a:t>
            </a:r>
            <a:endParaRPr b="1" sz="2500">
              <a:latin typeface="Roboto"/>
              <a:ea typeface="Roboto"/>
              <a:cs typeface="Roboto"/>
              <a:sym typeface="Roboto"/>
            </a:endParaRPr>
          </a:p>
        </p:txBody>
      </p:sp>
      <p:sp>
        <p:nvSpPr>
          <p:cNvPr id="63" name="Google Shape;63;p14"/>
          <p:cNvSpPr txBox="1"/>
          <p:nvPr>
            <p:ph idx="1" type="body"/>
          </p:nvPr>
        </p:nvSpPr>
        <p:spPr>
          <a:xfrm>
            <a:off x="311700" y="703375"/>
            <a:ext cx="8520600" cy="1575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Overall business performance is strong, with high total revenue, a large number of pizzas sold, and an average of more than two pizzas per order.</a:t>
            </a:r>
            <a:endParaRPr sz="1600">
              <a:solidFill>
                <a:schemeClr val="dk1"/>
              </a:solidFill>
              <a:latin typeface="Roboto"/>
              <a:ea typeface="Roboto"/>
              <a:cs typeface="Roboto"/>
              <a:sym typeface="Roboto"/>
            </a:endParaRPr>
          </a:p>
          <a:p>
            <a:pPr indent="0" lvl="0" marL="457200" rtl="0" algn="l">
              <a:spcBef>
                <a:spcPts val="0"/>
              </a:spcBef>
              <a:spcAft>
                <a:spcPts val="0"/>
              </a:spcAft>
              <a:buSzPts val="605"/>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Standard sizes (L, M , S) contribute the majority of sales, while a few categories, like Classic and Veggie, and a small set of top pizzas, drive a big share of demand.</a:t>
            </a:r>
            <a:endParaRPr sz="1600">
              <a:solidFill>
                <a:schemeClr val="dk1"/>
              </a:solidFill>
              <a:latin typeface="Roboto"/>
              <a:ea typeface="Roboto"/>
              <a:cs typeface="Roboto"/>
              <a:sym typeface="Roboto"/>
            </a:endParaRPr>
          </a:p>
          <a:p>
            <a:pPr indent="0" lvl="0" marL="457200" rtl="0" algn="l">
              <a:spcBef>
                <a:spcPts val="0"/>
              </a:spcBef>
              <a:spcAft>
                <a:spcPts val="0"/>
              </a:spcAft>
              <a:buSzPts val="605"/>
              <a:buNone/>
            </a:pPr>
            <a:r>
              <a:t/>
            </a:r>
            <a:endParaRPr sz="1600">
              <a:solidFill>
                <a:schemeClr val="dk1"/>
              </a:solidFill>
              <a:latin typeface="Roboto"/>
              <a:ea typeface="Roboto"/>
              <a:cs typeface="Roboto"/>
              <a:sym typeface="Roboto"/>
            </a:endParaRPr>
          </a:p>
          <a:p>
            <a:pPr indent="0" lvl="0" marL="0" rtl="0" algn="l">
              <a:spcBef>
                <a:spcPts val="0"/>
              </a:spcBef>
              <a:spcAft>
                <a:spcPts val="1200"/>
              </a:spcAft>
              <a:buSzPts val="605"/>
              <a:buNone/>
            </a:pPr>
            <a:r>
              <a:t/>
            </a:r>
            <a:endParaRPr sz="1600"/>
          </a:p>
        </p:txBody>
      </p:sp>
      <p:pic>
        <p:nvPicPr>
          <p:cNvPr id="64" name="Google Shape;64;p14"/>
          <p:cNvPicPr preferRelativeResize="0"/>
          <p:nvPr/>
        </p:nvPicPr>
        <p:blipFill>
          <a:blip r:embed="rId3">
            <a:alphaModFix/>
          </a:blip>
          <a:stretch>
            <a:fillRect/>
          </a:stretch>
        </p:blipFill>
        <p:spPr>
          <a:xfrm>
            <a:off x="1726625" y="2393325"/>
            <a:ext cx="4740008" cy="2227875"/>
          </a:xfrm>
          <a:prstGeom prst="rect">
            <a:avLst/>
          </a:prstGeom>
          <a:noFill/>
          <a:ln cap="flat" cmpd="sng" w="9525">
            <a:solidFill>
              <a:schemeClr val="dk2"/>
            </a:solidFill>
            <a:prstDash val="solid"/>
            <a:round/>
            <a:headEnd len="sm" w="sm" type="none"/>
            <a:tailEnd len="sm" w="sm" type="none"/>
          </a:ln>
        </p:spPr>
      </p:pic>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990"/>
              <a:buFont typeface="Arial"/>
              <a:buNone/>
            </a:pPr>
            <a:r>
              <a:rPr b="1" lang="en" sz="1729">
                <a:latin typeface="Times New Roman"/>
                <a:ea typeface="Times New Roman"/>
                <a:cs typeface="Times New Roman"/>
                <a:sym typeface="Times New Roman"/>
              </a:rPr>
              <a:t>How This Dashboard Helps</a:t>
            </a:r>
            <a:endParaRPr b="1" sz="1729">
              <a:latin typeface="Times New Roman"/>
              <a:ea typeface="Times New Roman"/>
              <a:cs typeface="Times New Roman"/>
              <a:sym typeface="Times New Roman"/>
            </a:endParaRPr>
          </a:p>
          <a:p>
            <a:pPr indent="0" lvl="0" marL="0" rtl="0" algn="l">
              <a:spcBef>
                <a:spcPts val="400"/>
              </a:spcBef>
              <a:spcAft>
                <a:spcPts val="0"/>
              </a:spcAft>
              <a:buSzPts val="990"/>
              <a:buNone/>
            </a:pPr>
            <a:r>
              <a:t/>
            </a:r>
            <a:endParaRPr sz="2720">
              <a:latin typeface="Times New Roman"/>
              <a:ea typeface="Times New Roman"/>
              <a:cs typeface="Times New Roman"/>
              <a:sym typeface="Times New Roman"/>
            </a:endParaRPr>
          </a:p>
        </p:txBody>
      </p:sp>
      <p:sp>
        <p:nvSpPr>
          <p:cNvPr id="71" name="Google Shape;71;p15"/>
          <p:cNvSpPr txBox="1"/>
          <p:nvPr>
            <p:ph idx="1" type="body"/>
          </p:nvPr>
        </p:nvSpPr>
        <p:spPr>
          <a:xfrm>
            <a:off x="311700" y="930600"/>
            <a:ext cx="8520600" cy="1887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Stakeholders can start with KPIs to check overall health, then drill down into categories, sizes, and specific pizzas to find growth opportunities.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The visuals support decisions on menu optimization, pricing, and marketing by highlighting best sellers, underperformers, and customer preferences.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By turning raw transactional data into clear visuals, the dashboard enables data‑driven planning rather than guesswork.</a:t>
            </a:r>
            <a:endParaRPr sz="2100">
              <a:latin typeface="Times New Roman"/>
              <a:ea typeface="Times New Roman"/>
              <a:cs typeface="Times New Roman"/>
              <a:sym typeface="Times New Roman"/>
            </a:endParaRPr>
          </a:p>
        </p:txBody>
      </p:sp>
      <p:pic>
        <p:nvPicPr>
          <p:cNvPr id="72" name="Google Shape;72;p15"/>
          <p:cNvPicPr preferRelativeResize="0"/>
          <p:nvPr/>
        </p:nvPicPr>
        <p:blipFill rotWithShape="1">
          <a:blip r:embed="rId3">
            <a:alphaModFix/>
          </a:blip>
          <a:srcRect b="0" l="0" r="0" t="0"/>
          <a:stretch/>
        </p:blipFill>
        <p:spPr>
          <a:xfrm>
            <a:off x="1671700" y="2649875"/>
            <a:ext cx="5093699" cy="2151474"/>
          </a:xfrm>
          <a:prstGeom prst="rect">
            <a:avLst/>
          </a:prstGeom>
          <a:noFill/>
          <a:ln cap="flat" cmpd="sng" w="19050">
            <a:solidFill>
              <a:schemeClr val="dk2"/>
            </a:solidFill>
            <a:prstDash val="solid"/>
            <a:round/>
            <a:headEnd len="sm" w="sm" type="none"/>
            <a:tailEnd len="sm" w="sm" type="none"/>
          </a:ln>
        </p:spPr>
      </p:pic>
      <p:sp>
        <p:nvSpPr>
          <p:cNvPr id="73" name="Google Shape;7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latin typeface="Times New Roman"/>
                <a:ea typeface="Times New Roman"/>
                <a:cs typeface="Times New Roman"/>
                <a:sym typeface="Times New Roman"/>
              </a:rPr>
              <a:t>Conclusion</a:t>
            </a:r>
            <a:endParaRPr b="1" sz="1800">
              <a:latin typeface="Times New Roman"/>
              <a:ea typeface="Times New Roman"/>
              <a:cs typeface="Times New Roman"/>
              <a:sym typeface="Times New Roman"/>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just">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The pizza sales dashboard demonstrates that 2015 was a profitable and well‑performing year, with strong total revenue, a high volume of pizzas sold, and customers typically ordering multiple pizzas per transaction.</a:t>
            </a:r>
            <a:endParaRPr sz="1500">
              <a:solidFill>
                <a:schemeClr val="dk1"/>
              </a:solidFill>
              <a:latin typeface="Times New Roman"/>
              <a:ea typeface="Times New Roman"/>
              <a:cs typeface="Times New Roman"/>
              <a:sym typeface="Times New Roman"/>
            </a:endParaRPr>
          </a:p>
          <a:p>
            <a:pPr indent="-323850" lvl="0" marL="457200" rtl="0" algn="just">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It clearly highlights that standard sizes and a few key categories and pizza types drive most of the business, giving managers a focused set of products to protect, promote, and keep in stock. By combining KPIs, product‑mix visuals, and time‑trend charts with interactive filters, the dashboard turns raw order data into practical, data‑driven guidance for decisions on menu design, pricing, marketing, and operational planning.</a:t>
            </a:r>
            <a:endParaRPr sz="1500">
              <a:solidFill>
                <a:schemeClr val="dk1"/>
              </a:solidFill>
              <a:latin typeface="Times New Roman"/>
              <a:ea typeface="Times New Roman"/>
              <a:cs typeface="Times New Roman"/>
              <a:sym typeface="Times New Roman"/>
            </a:endParaRPr>
          </a:p>
          <a:p>
            <a:pPr indent="0" lvl="0" marL="0" rtl="0" algn="just">
              <a:spcBef>
                <a:spcPts val="600"/>
              </a:spcBef>
              <a:spcAft>
                <a:spcPts val="1200"/>
              </a:spcAft>
              <a:buNone/>
            </a:pPr>
            <a:r>
              <a:t/>
            </a:r>
            <a:endParaRPr sz="1500">
              <a:latin typeface="Times New Roman"/>
              <a:ea typeface="Times New Roman"/>
              <a:cs typeface="Times New Roman"/>
              <a:sym typeface="Times New Roman"/>
            </a:endParaRPr>
          </a:p>
        </p:txBody>
      </p:sp>
      <p:sp>
        <p:nvSpPr>
          <p:cNvPr id="80" name="Google Shape;8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